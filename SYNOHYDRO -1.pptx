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i D" userId="3a94e09aa6f747e1" providerId="LiveId" clId="{C99F548D-E1E7-407A-936B-EF0DE79145F9}"/>
    <pc:docChg chg="custSel modSld">
      <pc:chgData name="Mathi D" userId="3a94e09aa6f747e1" providerId="LiveId" clId="{C99F548D-E1E7-407A-936B-EF0DE79145F9}" dt="2026-09-18T12:50:09.200" v="12" actId="113"/>
      <pc:docMkLst>
        <pc:docMk/>
      </pc:docMkLst>
      <pc:sldChg chg="modSp mod">
        <pc:chgData name="Mathi D" userId="3a94e09aa6f747e1" providerId="LiveId" clId="{C99F548D-E1E7-407A-936B-EF0DE79145F9}" dt="2026-09-18T12:46:11.777" v="2" actId="1076"/>
        <pc:sldMkLst>
          <pc:docMk/>
          <pc:sldMk cId="621867114" sldId="256"/>
        </pc:sldMkLst>
        <pc:spChg chg="mod">
          <ac:chgData name="Mathi D" userId="3a94e09aa6f747e1" providerId="LiveId" clId="{C99F548D-E1E7-407A-936B-EF0DE79145F9}" dt="2026-09-18T12:46:11.777" v="2" actId="1076"/>
          <ac:spMkLst>
            <pc:docMk/>
            <pc:sldMk cId="621867114" sldId="256"/>
            <ac:spMk id="2" creationId="{EEC08E7E-085B-B0DD-35F8-A8044A571EDC}"/>
          </ac:spMkLst>
        </pc:spChg>
      </pc:sldChg>
      <pc:sldChg chg="modSp mod">
        <pc:chgData name="Mathi D" userId="3a94e09aa6f747e1" providerId="LiveId" clId="{C99F548D-E1E7-407A-936B-EF0DE79145F9}" dt="2026-09-18T12:49:04.416" v="8" actId="20577"/>
        <pc:sldMkLst>
          <pc:docMk/>
          <pc:sldMk cId="4061324209" sldId="260"/>
        </pc:sldMkLst>
        <pc:spChg chg="mod">
          <ac:chgData name="Mathi D" userId="3a94e09aa6f747e1" providerId="LiveId" clId="{C99F548D-E1E7-407A-936B-EF0DE79145F9}" dt="2026-09-18T12:49:04.416" v="8" actId="20577"/>
          <ac:spMkLst>
            <pc:docMk/>
            <pc:sldMk cId="4061324209" sldId="260"/>
            <ac:spMk id="3" creationId="{32DA7B4E-45D2-C2A7-4E73-D4F1651EECE7}"/>
          </ac:spMkLst>
        </pc:spChg>
      </pc:sldChg>
      <pc:sldChg chg="modSp mod">
        <pc:chgData name="Mathi D" userId="3a94e09aa6f747e1" providerId="LiveId" clId="{C99F548D-E1E7-407A-936B-EF0DE79145F9}" dt="2026-09-18T12:48:47.030" v="6" actId="403"/>
        <pc:sldMkLst>
          <pc:docMk/>
          <pc:sldMk cId="1884878281" sldId="261"/>
        </pc:sldMkLst>
        <pc:spChg chg="mod">
          <ac:chgData name="Mathi D" userId="3a94e09aa6f747e1" providerId="LiveId" clId="{C99F548D-E1E7-407A-936B-EF0DE79145F9}" dt="2026-09-18T12:48:47.030" v="6" actId="403"/>
          <ac:spMkLst>
            <pc:docMk/>
            <pc:sldMk cId="1884878281" sldId="261"/>
            <ac:spMk id="3" creationId="{45CB64AA-7475-9448-646F-EEC4D7C931AF}"/>
          </ac:spMkLst>
        </pc:spChg>
      </pc:sldChg>
      <pc:sldChg chg="modSp mod">
        <pc:chgData name="Mathi D" userId="3a94e09aa6f747e1" providerId="LiveId" clId="{C99F548D-E1E7-407A-936B-EF0DE79145F9}" dt="2026-09-18T12:50:09.200" v="12" actId="113"/>
        <pc:sldMkLst>
          <pc:docMk/>
          <pc:sldMk cId="1034766357" sldId="262"/>
        </pc:sldMkLst>
        <pc:spChg chg="mod">
          <ac:chgData name="Mathi D" userId="3a94e09aa6f747e1" providerId="LiveId" clId="{C99F548D-E1E7-407A-936B-EF0DE79145F9}" dt="2026-09-18T12:50:09.200" v="12" actId="113"/>
          <ac:spMkLst>
            <pc:docMk/>
            <pc:sldMk cId="1034766357" sldId="262"/>
            <ac:spMk id="3" creationId="{FDCB5ACC-9386-446C-6C27-71F6E22DB77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745A0-15C2-4314-55E6-37489C16B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2661D-A2B3-9701-BA5D-DCD44674C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5AD7F-793B-E318-2F8F-E68DF8E2E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67A9-B685-44E2-9C78-B3BBA4B3F2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2C750-51C5-BCA2-DC56-277E5E850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FB053-602E-2279-2BAD-44894EAF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642C-9355-4940-8822-CD584940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09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3AA6-6362-E6B6-6D15-634B16399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6EBCC-A43D-B585-BCE8-504E4201F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DE8F4-972C-DFBA-7347-1CDA8E16E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67A9-B685-44E2-9C78-B3BBA4B3F2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2D7F5-1AC3-3F24-2984-2F38FA62F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20D74-0CC0-4AD4-81CE-13DF3418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642C-9355-4940-8822-CD584940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269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984A3-E978-FB6A-2111-56A4FAC64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B3B34-6155-7278-577B-55821F246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CB3A6-7E5F-69C8-1C4C-251C72E41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67A9-B685-44E2-9C78-B3BBA4B3F2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C403B-5886-A714-951A-09583750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8247F-AF88-96FB-8667-1264C07A8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642C-9355-4940-8822-CD584940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914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DD525-715F-ED02-ED50-53D43F8F0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E12FB-4C42-83C7-82D5-92CD78966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159F5-71D4-BB22-2BEE-9F52EBEA7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CD9E0-384D-798A-653C-9AD53E669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67A9-B685-44E2-9C78-B3BBA4B3F2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27C26-F9ED-350C-9ED8-B4CD1393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2BA57-B85B-9AF8-3A4D-DF1E2394B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642C-9355-4940-8822-CD584940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465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DFAE1-AFB0-384C-2CF8-75D57DCCE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4CCC4-82A2-728A-E179-9595BA4C0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49C3A-D508-3B70-2DF8-EBB1546C0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5D082F-AAEB-345F-98E7-EA3A80BB87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B21FC-8917-9B84-6C06-7D39038E84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BE7D7E-441A-DE61-692E-7943FACBA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67A9-B685-44E2-9C78-B3BBA4B3F2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A9D6FE-443E-1810-7D34-5229B3E5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4D1729-49CC-F2DB-411A-AE77A0977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642C-9355-4940-8822-CD584940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94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EE6E8-AD17-7BC9-AF80-E8AB8A380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E00BD5-538C-49B1-3528-9C8C469D8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67A9-B685-44E2-9C78-B3BBA4B3F2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CDF99-4C75-0BDB-CA38-1990B06C6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9612D-2295-AFE1-0137-DFA7715F0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642C-9355-4940-8822-CD584940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343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CEF70-0DC7-3497-328B-AD5EF7411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67A9-B685-44E2-9C78-B3BBA4B3F2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A157B2-08CD-339A-480D-06B7BC29C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7B627-529D-116D-11EF-20AB96B5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642C-9355-4940-8822-CD584940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494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801A1-7B62-B93C-E7A3-6980AF17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FA6AA-59F9-DF31-63A0-2A103A103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98F6-CFB0-3D98-425B-7BC66B0B3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47B2B-9734-E09B-557A-2B7DD3785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67A9-B685-44E2-9C78-B3BBA4B3F2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50E08-A383-DE75-9989-D14F8CB4E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B4A94-55E7-FCFF-0FDF-D8CDCD6AC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642C-9355-4940-8822-CD584940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08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4141-73B2-42E5-BE53-4EFA1729E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0B608D-964B-2DC6-0F4D-E62BE429DC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3C8EB-838E-71EC-B996-9CED655A5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06C64-6356-1CF1-7B27-ED2F2923E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67A9-B685-44E2-9C78-B3BBA4B3F2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70C0C-1062-B287-A7A7-764C552D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0DB2A-93A2-733B-9872-B0BEBC8B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642C-9355-4940-8822-CD584940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028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E4403-3DC4-6B39-893C-CCD5E75DA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8EDA5-8593-09EA-82CB-50817A160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9EB18-45BC-F6B6-86D5-5499C65BA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67A9-B685-44E2-9C78-B3BBA4B3F2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3D184-9AE6-776E-FCF7-A030593DA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4B8D5-629C-42A8-6F60-AF414BDC9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642C-9355-4940-8822-CD584940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03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030B85-8932-2566-1F3D-35858F17DA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8991E9-76E6-11AE-2082-5465E9793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AFD42-BF70-0BE0-AAFD-01BB6B564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67A9-B685-44E2-9C78-B3BBA4B3F2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83467-729A-A287-6FFE-5E316C14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62855-E157-DB85-814F-CC39E6BB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6642C-9355-4940-8822-CD584940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83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2D5772-B36C-7A40-4A1F-36D81B903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47499-C76E-DFFF-24A1-5FE1E91E3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870DE-9380-99E3-1AB1-DD97D34CC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167A9-B685-44E2-9C78-B3BBA4B3F2CE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439B2-0943-07E7-8222-14C72B55B4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A752B-0556-7DBB-C14D-4E6EDDFEC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6642C-9355-4940-8822-CD5849404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747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8E7E-085B-B0DD-35F8-A8044A571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/>
          </a:bodyPr>
          <a:lstStyle/>
          <a:p>
            <a:r>
              <a:rPr lang="en-GB" sz="4800" b="1" dirty="0"/>
              <a:t>SYNOHYDRO</a:t>
            </a:r>
            <a:r>
              <a:rPr lang="en-GB" sz="4800" dirty="0"/>
              <a:t> –</a:t>
            </a:r>
            <a:br>
              <a:rPr lang="en-GB" sz="4800" dirty="0"/>
            </a:br>
            <a:r>
              <a:rPr lang="en-GB" sz="4800" dirty="0"/>
              <a:t> Industrial Water Network Leak &amp; Loss Detection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62186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F53-B7F3-C7F7-4A3E-CD137BECF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PROBLEM STATEMENT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CF141-FBF9-DE4C-CF0C-24BE367F8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High water consumption</a:t>
            </a:r>
            <a:r>
              <a:rPr lang="en-IN" dirty="0"/>
              <a:t> in industries </a:t>
            </a:r>
          </a:p>
          <a:p>
            <a:pPr lvl="0"/>
            <a:r>
              <a:rPr lang="en-IN" b="1" dirty="0"/>
              <a:t>Variable usage</a:t>
            </a:r>
            <a:r>
              <a:rPr lang="en-IN" dirty="0"/>
              <a:t> due to production changes </a:t>
            </a:r>
          </a:p>
          <a:p>
            <a:pPr lvl="0"/>
            <a:r>
              <a:rPr lang="en-IN" b="1" dirty="0"/>
              <a:t>Too many false leak alarms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Hidden leaks go unnoticed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Difficult to locate leaks</a:t>
            </a:r>
            <a:r>
              <a:rPr lang="en-IN" dirty="0"/>
              <a:t> with limited sensors 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Actual loss cost is often underestimated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 </a:t>
            </a:r>
            <a:r>
              <a:rPr lang="en-IN" b="1" dirty="0"/>
              <a:t>Need for accurate, real-time leak detection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75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DEFA-FDD6-346F-4EB4-7802C0D88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AE92B-CD7B-1D40-2492-1EC9B6A80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Our system understands </a:t>
            </a:r>
            <a:r>
              <a:rPr lang="en-IN" b="1" dirty="0"/>
              <a:t>what the factory is currently doing</a:t>
            </a:r>
            <a:r>
              <a:rPr lang="en-IN" dirty="0"/>
              <a:t> and calculates how much water should normally be required.</a:t>
            </a:r>
          </a:p>
          <a:p>
            <a:r>
              <a:rPr lang="en-IN" b="1" dirty="0"/>
              <a:t>Production Context → Expected Water → Actual Water → Difference</a:t>
            </a:r>
            <a:endParaRPr lang="en-IN" dirty="0"/>
          </a:p>
          <a:p>
            <a:r>
              <a:rPr lang="en-IN" b="1" dirty="0"/>
              <a:t>Residual = Actual Water Used − Expected Water Usage</a:t>
            </a:r>
            <a:endParaRPr lang="en-IN" dirty="0"/>
          </a:p>
          <a:p>
            <a:pPr lvl="0"/>
            <a:r>
              <a:rPr lang="en-IN" b="1" dirty="0"/>
              <a:t>Residual ≈ 0</a:t>
            </a:r>
            <a:r>
              <a:rPr lang="en-IN" dirty="0"/>
              <a:t> → Normal operation </a:t>
            </a:r>
          </a:p>
          <a:p>
            <a:pPr lvl="0"/>
            <a:r>
              <a:rPr lang="en-IN" b="1" dirty="0"/>
              <a:t>Residual &gt; 0</a:t>
            </a:r>
            <a:r>
              <a:rPr lang="en-IN" dirty="0"/>
              <a:t> → Unexplained consumption → Possible leak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1675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65739-899E-BF82-3B5E-7ACCDC0B9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Technical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D5C33-CB92-096E-1344-8E540E472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Our system works in a simple flow:</a:t>
            </a:r>
          </a:p>
          <a:p>
            <a:r>
              <a:rPr lang="en-IN" b="1" dirty="0"/>
              <a:t>Collect → Analyse → Detect → Alert</a:t>
            </a:r>
            <a:endParaRPr lang="en-IN" dirty="0"/>
          </a:p>
          <a:p>
            <a:r>
              <a:rPr lang="en-IN" dirty="0"/>
              <a:t>We collect data from </a:t>
            </a:r>
            <a:r>
              <a:rPr lang="en-IN" b="1" dirty="0"/>
              <a:t>flow sensors, pressure sensors, water meters, and production schedules</a:t>
            </a:r>
            <a:r>
              <a:rPr lang="en-IN" dirty="0"/>
              <a:t>. This data is processed and compared with the expected water usage for that particular production level.</a:t>
            </a:r>
          </a:p>
          <a:p>
            <a:r>
              <a:rPr lang="en-IN" dirty="0"/>
              <a:t>For example, if production is low but water consumption suddenly increases and pressure starts dropping, the system can identify this as a </a:t>
            </a:r>
            <a:r>
              <a:rPr lang="en-IN" b="1" dirty="0"/>
              <a:t>possible leak condition</a:t>
            </a:r>
            <a:r>
              <a:rPr lang="en-IN" dirty="0"/>
              <a:t>.</a:t>
            </a:r>
          </a:p>
          <a:p>
            <a:r>
              <a:rPr lang="en-IN" dirty="0"/>
              <a:t>The processed information is then displayed on a dashboard so that the operator can understand what is happening in the network.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8831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6B9C-6A86-7DD9-C912-F2EF5B54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7885"/>
          </a:xfrm>
        </p:spPr>
        <p:txBody>
          <a:bodyPr/>
          <a:lstStyle/>
          <a:p>
            <a:pPr algn="ctr"/>
            <a:r>
              <a:rPr lang="en-IN" dirty="0"/>
              <a:t>Innovation / 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A7B4E-45D2-C2A7-4E73-D4F1651EE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051560"/>
            <a:ext cx="11692890" cy="565785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11200" u="sng" dirty="0"/>
              <a:t>Novelty 1</a:t>
            </a:r>
          </a:p>
          <a:p>
            <a:pPr marL="0" indent="0" algn="ctr">
              <a:buNone/>
            </a:pPr>
            <a:r>
              <a:rPr lang="en-IN" sz="9600" b="1" dirty="0"/>
              <a:t>RECIPE-AWARE AI</a:t>
            </a:r>
            <a:endParaRPr lang="en-IN" sz="11200" b="1" u="sng" dirty="0"/>
          </a:p>
          <a:p>
            <a:pPr marL="0" indent="0">
              <a:buNone/>
            </a:pPr>
            <a:r>
              <a:rPr lang="en-IN" sz="11200" dirty="0"/>
              <a:t>Instead of asking:</a:t>
            </a:r>
          </a:p>
          <a:p>
            <a:r>
              <a:rPr lang="en-IN" sz="11200" dirty="0"/>
              <a:t>❌ </a:t>
            </a:r>
            <a:r>
              <a:rPr lang="en-IN" sz="11200" i="1" dirty="0"/>
              <a:t>“Is the water flow high?”</a:t>
            </a:r>
            <a:endParaRPr lang="en-IN" sz="11200" dirty="0"/>
          </a:p>
          <a:p>
            <a:r>
              <a:rPr lang="en-IN" sz="11200" dirty="0"/>
              <a:t>We ask:</a:t>
            </a:r>
          </a:p>
          <a:p>
            <a:r>
              <a:rPr lang="en-IN" sz="11200" dirty="0"/>
              <a:t>✅ </a:t>
            </a:r>
            <a:r>
              <a:rPr lang="en-IN" sz="11200" i="1" dirty="0"/>
              <a:t>“Is this water usage normal for the current recipe, batch step, and machine state?”</a:t>
            </a:r>
            <a:endParaRPr lang="en-IN" sz="11200" dirty="0"/>
          </a:p>
          <a:p>
            <a:r>
              <a:rPr lang="en-IN" sz="11200" b="1" dirty="0"/>
              <a:t>Inputs:</a:t>
            </a:r>
            <a:endParaRPr lang="en-IN" sz="11200" dirty="0"/>
          </a:p>
          <a:p>
            <a:pPr lvl="0"/>
            <a:r>
              <a:rPr lang="en-IN" sz="11200" dirty="0"/>
              <a:t>Active recipe </a:t>
            </a:r>
          </a:p>
          <a:p>
            <a:pPr lvl="0"/>
            <a:r>
              <a:rPr lang="en-IN" sz="11200" dirty="0"/>
              <a:t>Batch stage </a:t>
            </a:r>
          </a:p>
          <a:p>
            <a:pPr lvl="0"/>
            <a:r>
              <a:rPr lang="en-IN" sz="11200" dirty="0"/>
              <a:t>Machine status </a:t>
            </a:r>
          </a:p>
          <a:p>
            <a:pPr lvl="0"/>
            <a:r>
              <a:rPr lang="en-IN" sz="11200" dirty="0"/>
              <a:t>Flow &amp; pressure </a:t>
            </a:r>
          </a:p>
        </p:txBody>
      </p:sp>
    </p:spTree>
    <p:extLst>
      <p:ext uri="{BB962C8B-B14F-4D97-AF65-F5344CB8AC3E}">
        <p14:creationId xmlns:p14="http://schemas.microsoft.com/office/powerpoint/2010/main" val="4061324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B64AA-7475-9448-646F-EEC4D7C93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/>
              <a:t>Output:</a:t>
            </a:r>
          </a:p>
          <a:p>
            <a:r>
              <a:rPr lang="en-IN" dirty="0"/>
              <a:t>Expected usage vs Actual usage</a:t>
            </a:r>
          </a:p>
          <a:p>
            <a:r>
              <a:rPr lang="en-IN" dirty="0"/>
              <a:t>Why it matters</a:t>
            </a:r>
          </a:p>
          <a:p>
            <a:r>
              <a:rPr lang="en-IN" dirty="0"/>
              <a:t>Fewer false alarms → Less alarm fatigue → More trust in the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4878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B5ACC-9386-446C-6C27-71F6E22DB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1963"/>
            <a:ext cx="10515600" cy="578024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4400" u="sng" dirty="0"/>
              <a:t>Novelty 2</a:t>
            </a:r>
          </a:p>
          <a:p>
            <a:pPr marL="0" indent="0" algn="ctr">
              <a:buNone/>
            </a:pPr>
            <a:r>
              <a:rPr lang="en-IN" sz="3600" b="1" dirty="0"/>
              <a:t>PI-GNN</a:t>
            </a:r>
          </a:p>
          <a:p>
            <a:pPr marL="0" indent="0" algn="ctr">
              <a:buNone/>
            </a:pPr>
            <a:endParaRPr lang="en-IN" sz="3600" b="1" dirty="0"/>
          </a:p>
          <a:p>
            <a:pPr marL="0" indent="0">
              <a:buNone/>
            </a:pPr>
            <a:r>
              <a:rPr lang="en-IN" sz="3600" u="sng" dirty="0"/>
              <a:t>Finding Leaks Where There Are No Sensors</a:t>
            </a:r>
          </a:p>
          <a:p>
            <a:pPr marL="0" indent="0">
              <a:buNone/>
            </a:pPr>
            <a:endParaRPr lang="en-IN" sz="3600" u="sng" dirty="0"/>
          </a:p>
          <a:p>
            <a:r>
              <a:rPr lang="en-IN" sz="3600" dirty="0"/>
              <a:t>Factories may have </a:t>
            </a:r>
            <a:r>
              <a:rPr lang="en-IN" sz="3600" b="1" dirty="0"/>
              <a:t>hundreds of pipe segments but only a few sensors</a:t>
            </a:r>
            <a:r>
              <a:rPr lang="en-IN" sz="3600" dirty="0"/>
              <a:t>.</a:t>
            </a:r>
          </a:p>
          <a:p>
            <a:r>
              <a:rPr lang="en-IN" sz="3600" dirty="0"/>
              <a:t>We model the network as a Graph:</a:t>
            </a:r>
          </a:p>
          <a:p>
            <a:r>
              <a:rPr lang="en-IN" sz="3600" b="1" dirty="0"/>
              <a:t>Nodes = Junctions</a:t>
            </a:r>
            <a:br>
              <a:rPr lang="en-IN" sz="3600" dirty="0"/>
            </a:br>
            <a:r>
              <a:rPr lang="en-IN" sz="3600" b="1" dirty="0"/>
              <a:t>Edges = Pipes</a:t>
            </a:r>
            <a:endParaRPr lang="en-IN" sz="3600" dirty="0"/>
          </a:p>
          <a:p>
            <a:r>
              <a:rPr lang="en-IN" sz="3600" dirty="0"/>
              <a:t>Our </a:t>
            </a:r>
            <a:r>
              <a:rPr lang="en-IN" sz="3600" b="1" dirty="0"/>
              <a:t>Physics-Informed Graph Neural Network (PI-GNN)</a:t>
            </a:r>
            <a:r>
              <a:rPr lang="en-IN" sz="3600" dirty="0"/>
              <a:t> combines:</a:t>
            </a:r>
          </a:p>
          <a:p>
            <a:r>
              <a:rPr lang="en-IN" sz="3600" dirty="0"/>
              <a:t>🧠 </a:t>
            </a:r>
            <a:r>
              <a:rPr lang="en-IN" sz="3600" b="1" dirty="0"/>
              <a:t>AI</a:t>
            </a:r>
            <a:r>
              <a:rPr lang="en-IN" sz="3600" dirty="0"/>
              <a:t> + 🌊 </a:t>
            </a:r>
            <a:r>
              <a:rPr lang="en-IN" sz="3600" b="1" dirty="0"/>
              <a:t>Fluid Physics</a:t>
            </a:r>
            <a:endParaRPr lang="en-IN" sz="3600" dirty="0"/>
          </a:p>
          <a:p>
            <a:r>
              <a:rPr lang="en-IN" sz="3600" dirty="0"/>
              <a:t>It uses the limited sensor readings and physical pipe relationships to </a:t>
            </a:r>
            <a:r>
              <a:rPr lang="en-IN" sz="3600" b="1" dirty="0"/>
              <a:t>infer what is happening in unmetered sections</a:t>
            </a:r>
            <a:r>
              <a:rPr lang="en-IN" sz="3600" dirty="0"/>
              <a:t>.</a:t>
            </a:r>
          </a:p>
          <a:p>
            <a:pPr marL="0" indent="0">
              <a:buNone/>
            </a:pPr>
            <a:endParaRPr lang="en-IN" sz="3400" u="sng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4766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C1298-6733-A3DD-7584-99BD2BC35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8630"/>
            <a:ext cx="10515600" cy="57426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3000" u="sng" dirty="0"/>
              <a:t>Novelty 3</a:t>
            </a:r>
          </a:p>
          <a:p>
            <a:pPr marL="0" indent="0" algn="ctr">
              <a:buNone/>
            </a:pPr>
            <a:r>
              <a:rPr lang="en-IN" b="1" dirty="0"/>
              <a:t>INVISIBLE VALVE LEAKS</a:t>
            </a:r>
          </a:p>
          <a:p>
            <a:r>
              <a:rPr lang="en-IN" b="1" dirty="0"/>
              <a:t> Detecting Leaks Nobody Sees</a:t>
            </a:r>
          </a:p>
          <a:p>
            <a:r>
              <a:rPr lang="en-IN" dirty="0"/>
              <a:t>Not every leak creates water on the floor.</a:t>
            </a:r>
          </a:p>
          <a:p>
            <a:r>
              <a:rPr lang="en-IN" dirty="0"/>
              <a:t>A valve may appear </a:t>
            </a:r>
            <a:r>
              <a:rPr lang="en-IN" b="1" dirty="0"/>
              <a:t>CLOSED</a:t>
            </a:r>
            <a:r>
              <a:rPr lang="en-IN" dirty="0"/>
              <a:t>, while a small amount of water continues to pass through it.</a:t>
            </a:r>
          </a:p>
          <a:p>
            <a:r>
              <a:rPr lang="en-IN" dirty="0"/>
              <a:t>Our system checks for contradictions:</a:t>
            </a:r>
          </a:p>
          <a:p>
            <a:pPr marL="0" indent="0" algn="ctr">
              <a:buNone/>
            </a:pPr>
            <a:r>
              <a:rPr lang="en-IN" b="1" dirty="0"/>
              <a:t>Valve Status:</a:t>
            </a:r>
            <a:r>
              <a:rPr lang="en-IN" dirty="0"/>
              <a:t> CLOSED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Downstream Flow/Pressure:</a:t>
            </a:r>
            <a:r>
              <a:rPr lang="en-IN" dirty="0"/>
              <a:t> Water still moving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</a:t>
            </a:r>
            <a:r>
              <a:rPr lang="en-IN" b="1" dirty="0"/>
              <a:t>Possible Internal Bypass</a:t>
            </a:r>
            <a:endParaRPr lang="en-IN" dirty="0"/>
          </a:p>
          <a:p>
            <a:pPr marL="0" indent="0">
              <a:buNone/>
            </a:pPr>
            <a:r>
              <a:rPr lang="en-IN" u="sng" dirty="0"/>
              <a:t>Key Innovation</a:t>
            </a:r>
          </a:p>
          <a:p>
            <a:r>
              <a:rPr lang="en-IN" b="1" dirty="0"/>
              <a:t>Detect hidden internal water loss — not just visible pipe leaks.</a:t>
            </a:r>
            <a:endParaRPr lang="en-IN" dirty="0"/>
          </a:p>
          <a:p>
            <a:pPr marL="0" indent="0">
              <a:buNone/>
            </a:pPr>
            <a:endParaRPr lang="en-IN" b="1" u="sng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4233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0276EE-EA62-0BF9-B7C3-7D041B3ED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10" y="354331"/>
            <a:ext cx="11578590" cy="6229350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IN" sz="2900" u="sng" dirty="0"/>
              <a:t>Novelty 4</a:t>
            </a:r>
          </a:p>
          <a:p>
            <a:pPr marL="0" indent="0" algn="ctr">
              <a:buNone/>
            </a:pPr>
            <a:r>
              <a:rPr lang="en-IN" sz="3200" b="1" dirty="0"/>
              <a:t>TRUE COST OF A LEAK</a:t>
            </a:r>
          </a:p>
          <a:p>
            <a:r>
              <a:rPr lang="en-IN" sz="3200" b="1" dirty="0"/>
              <a:t> A Leak Costs More Than Water</a:t>
            </a:r>
          </a:p>
          <a:p>
            <a:r>
              <a:rPr lang="en-IN" sz="3200" dirty="0"/>
              <a:t>Traditional systems:</a:t>
            </a:r>
          </a:p>
          <a:p>
            <a:r>
              <a:rPr lang="en-IN" sz="3200" b="1" dirty="0"/>
              <a:t>Water Lost × Water Price = Loss</a:t>
            </a:r>
            <a:endParaRPr lang="en-IN" sz="3200" dirty="0"/>
          </a:p>
          <a:p>
            <a:r>
              <a:rPr lang="en-IN" sz="3200" dirty="0"/>
              <a:t>Our system considers the </a:t>
            </a:r>
            <a:r>
              <a:rPr lang="en-IN" sz="3200" b="1" dirty="0"/>
              <a:t>complete cost of the lost water</a:t>
            </a:r>
            <a:r>
              <a:rPr lang="en-IN" sz="3200" dirty="0"/>
              <a:t>:</a:t>
            </a:r>
          </a:p>
          <a:p>
            <a:pPr marL="0" indent="0">
              <a:buNone/>
            </a:pPr>
            <a:r>
              <a:rPr lang="en-IN" sz="3200" dirty="0"/>
              <a:t> Water</a:t>
            </a:r>
            <a:br>
              <a:rPr lang="en-IN" sz="3200" dirty="0"/>
            </a:br>
            <a:r>
              <a:rPr lang="en-IN" sz="3200" dirty="0"/>
              <a:t> Heating Energy</a:t>
            </a:r>
            <a:br>
              <a:rPr lang="en-IN" sz="3200" dirty="0"/>
            </a:br>
            <a:r>
              <a:rPr lang="en-IN" sz="3200" dirty="0"/>
              <a:t> Treatment Chemicals</a:t>
            </a:r>
            <a:br>
              <a:rPr lang="en-IN" sz="3200" dirty="0"/>
            </a:br>
            <a:r>
              <a:rPr lang="en-IN" sz="3200" dirty="0"/>
              <a:t> Pumping Electricity</a:t>
            </a:r>
          </a:p>
          <a:p>
            <a:pPr marL="0" indent="0">
              <a:buNone/>
            </a:pPr>
            <a:r>
              <a:rPr lang="en-IN" sz="3200" dirty="0"/>
              <a:t> Wastewater Cost</a:t>
            </a:r>
            <a:br>
              <a:rPr lang="en-IN" sz="3200" dirty="0"/>
            </a:br>
            <a:r>
              <a:rPr lang="en-IN" sz="3200" dirty="0"/>
              <a:t> Associated CO₂ emissions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9225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7700E-2CB5-A161-5A26-ECA1F400B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6600" dirty="0"/>
          </a:p>
          <a:p>
            <a:pPr marL="0" indent="0" algn="ctr">
              <a:buNone/>
            </a:pPr>
            <a:endParaRPr lang="en-GB" sz="6600" dirty="0"/>
          </a:p>
          <a:p>
            <a:pPr marL="0" indent="0" algn="ctr">
              <a:buNone/>
            </a:pPr>
            <a:r>
              <a:rPr lang="en-GB" sz="6600" dirty="0"/>
              <a:t>THANK YOU….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1502726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499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SYNOHYDRO –  Industrial Water Network Leak &amp; Loss Detection</vt:lpstr>
      <vt:lpstr>PROBLEM STATEMENT</vt:lpstr>
      <vt:lpstr>Proposed Solution</vt:lpstr>
      <vt:lpstr>Technical Approach</vt:lpstr>
      <vt:lpstr>Innovation / Novelty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 D</dc:creator>
  <cp:lastModifiedBy>Mathi D</cp:lastModifiedBy>
  <cp:revision>2</cp:revision>
  <dcterms:created xsi:type="dcterms:W3CDTF">2026-09-18T11:20:59Z</dcterms:created>
  <dcterms:modified xsi:type="dcterms:W3CDTF">2026-09-18T12:55:05Z</dcterms:modified>
</cp:coreProperties>
</file>